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CNN-LSTM ACC</c:v>
                </c:pt>
              </c:strCache>
            </c:strRef>
          </c:tx>
          <c:spPr>
            <a:ln w="31750" cap="flat" cmpd="sng" algn="ctr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 cmpd="sng" algn="ctr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0.77</c:v>
                </c:pt>
                <c:pt idx="1">
                  <c:v>0.59</c:v>
                </c:pt>
                <c:pt idx="2">
                  <c:v>0.55</c:v>
                </c:pt>
                <c:pt idx="3">
                  <c:v>0.42</c:v>
                </c:pt>
                <c:pt idx="4">
                  <c:v>0.5</c:v>
                </c:pt>
                <c:pt idx="5">
                  <c:v>0.52</c:v>
                </c:pt>
                <c:pt idx="6">
                  <c:v>0.52</c:v>
                </c:pt>
                <c:pt idx="7">
                  <c:v>0.51</c:v>
                </c:pt>
                <c:pt idx="8">
                  <c:v>0.52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 ACC</c:v>
                </c:pt>
              </c:strCache>
            </c:strRef>
          </c:tx>
          <c:spPr>
            <a:ln w="31750" cap="flat" cmpd="sng" algn="ctr">
              <a:solidFill>
                <a:srgbClr val="6B7B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B88"/>
              </a:solidFill>
              <a:ln w="9525" cap="flat" cmpd="sng" algn="ctr">
                <a:solidFill>
                  <a:srgbClr val="6B7B8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0.91</c:v>
                </c:pt>
                <c:pt idx="1">
                  <c:v>0.61</c:v>
                </c:pt>
                <c:pt idx="2">
                  <c:v>0.45</c:v>
                </c:pt>
                <c:pt idx="3">
                  <c:v>0.05</c:v>
                </c:pt>
                <c:pt idx="4">
                  <c:v>-0.15</c:v>
                </c:pt>
                <c:pt idx="5">
                  <c:v>0</c:v>
                </c:pt>
                <c:pt idx="6">
                  <c:v>0.18</c:v>
                </c:pt>
                <c:pt idx="7">
                  <c:v>0.38</c:v>
                </c:pt>
                <c:pt idx="8">
                  <c:v>0.58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6B7B8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6B7B88"/>
                    </a:solidFill>
                    <a:latin typeface="Arial" panose="020B0604020202020204"/>
                  </a:rPr>
                  <a:t>lead (月)</a:t>
                </a:r>
                <a:endParaRPr sz="1100" b="0" i="0" u="none" strike="noStrike">
                  <a:solidFill>
                    <a:srgbClr val="6B7B8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B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3"/>
        </c:scaling>
        <c:delete val="0"/>
        <c:axPos val="l"/>
        <c:majorGridlines>
          <c:spPr>
            <a:ln w="6350" cap="flat" cmpd="sng" algn="ctr">
              <a:solidFill>
                <a:srgbClr val="EEF2F6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6B7B8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6B7B88"/>
                    </a:solidFill>
                    <a:latin typeface="Arial" panose="020B0604020202020204"/>
                  </a:rPr>
                  <a:t>ACC</a:t>
                </a:r>
                <a:endParaRPr sz="1100" b="0" i="0" u="none" strike="noStrike">
                  <a:solidFill>
                    <a:srgbClr val="6B7B8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B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24344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9225c38-c550-4d59-8114-606dfd2b2a4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Realtime 跨域 ACC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rgbClr val="065A8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lead1</c:v>
                </c:pt>
                <c:pt idx="1">
                  <c:v>lead2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</c:v>
                </c:pt>
                <c:pt idx="1">
                  <c:v>0.75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B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EEF2F6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6B7B8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6B7B88"/>
                    </a:solidFill>
                    <a:latin typeface="Arial" panose="020B0604020202020204"/>
                  </a:rPr>
                  <a:t>跨域 ACC</a:t>
                </a:r>
                <a:endParaRPr sz="1100" b="0" i="0" u="none" strike="noStrike">
                  <a:solidFill>
                    <a:srgbClr val="6B7B8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B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ce68c46-86ca-4048-8365-847cb57a99c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3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A7C0"/>
          </a:solidFill>
        </p:spPr>
      </p:sp>
      <p:sp>
        <p:nvSpPr>
          <p:cNvPr id="3" name="Text 1"/>
          <p:cNvSpPr/>
          <p:nvPr/>
        </p:nvSpPr>
        <p:spPr>
          <a:xfrm>
            <a:off x="731520" y="96012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ENSO 对话式预报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863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对话驱动的多方法预测与可靠性自评估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542032"/>
            <a:ext cx="2194560" cy="41148"/>
          </a:xfrm>
          <a:prstGeom prst="rect">
            <a:avLst/>
          </a:prstGeom>
          <a:solidFill>
            <a:srgbClr val="3FA7C0"/>
          </a:solidFill>
        </p:spPr>
      </p:sp>
      <p:sp>
        <p:nvSpPr>
          <p:cNvPr id="6" name="Text 4"/>
          <p:cNvSpPr/>
          <p:nvPr/>
        </p:nvSpPr>
        <p:spPr>
          <a:xfrm>
            <a:off x="731520" y="269748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韩烁  ·  张佳赢  ·  栗一润  ·  李孟航  ·  刘荣双  ·  韦邦贤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河海大学  海洋技术专业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课程项目汇报  ·  2026-07  ·  github.com/WHYYOUTRYB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ENSO 预报强在数值、弱在判断——“能不能信”仍是多数系统的盲区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17854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SzPct val="100000"/>
              <a:buNone/>
            </a:pPr>
            <a:r>
              <a:rPr lang="en-US" sz="18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强: </a:t>
            </a:r>
            <a:r>
              <a:rPr lang="en-US" sz="18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Niño3.4 预测已有 Persistence、统计、深度学习多路线,数值精度持续提升。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弱: </a:t>
            </a:r>
            <a:r>
              <a:rPr lang="en-US" sz="18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系统只给数字,不给“这个 lead 可不可信”——用户无法判断是否该据此决策。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缺口: </a:t>
            </a:r>
            <a:r>
              <a:rPr lang="en-US" sz="18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可靠性判断本身需要调 hindcast 查历史技能,这一步通常靠人,未被工具化。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机会: </a:t>
            </a:r>
            <a:r>
              <a:rPr lang="en-US" sz="18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 agent 能自主调工具——可把“自评可靠性”做成闭环,而非事后人工解释。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ENSO 预报体系综述;Ham et al. (2019), Nature.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本研究:让对话 agent 串起多方法,并自主回答“这个预测准不准”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72134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1188720" y="128016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17320"/>
            <a:ext cx="6309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一个对话式 agent 能否同时满足:(1) 让基线 / 增强 / CNN-LSTM 三种方法并存可对比;(2) 自主调用 hindcast 工具,用 ACC + Persistence 基准回答预测可靠性?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贡献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355" y="3270885"/>
            <a:ext cx="8513445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把“可靠性判断”工具化:agent 调 hindcast 查 per-lead ACC,按数据分档(&lt;0.3 拒绝 / &lt;0.5 低可信)。</a:t>
            </a:r>
            <a:endParaRPr lang="en-US" sz="17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双轨预测 + 三层评估并存:一维指数轨(实时主力)与空间场 CNN-LSTM 轨(方法上限),SODA / Realtime / Persistence 三层独立评估。</a:t>
            </a:r>
            <a:endParaRPr lang="en-US" sz="17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跨域诚实:训练域(SODA)与推理域(realtime)ACC 不混淆,结果永久标注 cross-domain。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项目规模:~4500 行 Python · 82 测试 · 21 工具 · 49M CNN 权重内置。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四层架构:引擎 → 工具 → 对话 loop,双轨预测 + 三层评估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1307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566928"/>
          </a:xfrm>
          <a:prstGeom prst="rect">
            <a:avLst/>
          </a:prstGeom>
          <a:solidFill>
            <a:srgbClr val="3FA7C0"/>
          </a:solidFill>
          <a:ln w="12700">
            <a:solidFill>
              <a:srgbClr val="3FA7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交互层  ·  Streamlit chat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80467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5648"/>
            <a:ext cx="7772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对话调度  ·  run_turn (turn-by-turn)  +  summarize_old_messages 历史压缩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80467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68296"/>
            <a:ext cx="7772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工具层  ·  21 工具 / ToolContext 多槽并存(results / enhanced_results / cnn_forecasts)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886200" cy="1371600"/>
          </a:xfrm>
          <a:prstGeom prst="rect">
            <a:avLst/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双轨预测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baseline (Persistence / Ridge / RF)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enhanced (+SOI / Niño1+2)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CNN-LSTM (空间场,方法上限)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3886200" cy="1371600"/>
          </a:xfrm>
          <a:prstGeom prst="rect">
            <a:avLst/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三层评估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SODA hindcast (方法上限)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Realtime hindcast (真实跨域)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Persistence 基准 (技能锚)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状态外化:对话历史存 session_state,每轮交还控制权;重对象在 ToolContext,文本在 messages。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run_turn 不持有状态——借用调用方的对话历史,每轮交还控制权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4482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457200" y="1143000"/>
            <a:ext cx="5029200" cy="2926080"/>
          </a:xfrm>
          <a:prstGeom prst="rect">
            <a:avLst/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7548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run_turn(messages, tools, client):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while step &lt; max_steps: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 = client.chat(messages, tools.schemas())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messages.append(a)            # 原地追加外部列表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not a.tool_calls: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return TurnResult(messages) # 控制权还给用户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call in a.tool_calls: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res = tools.execute(call.name, call.args)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on_step(...)               # 回调→UI 折叠块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6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messages.append({"role":"tool",...})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三重保护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0" y="150876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56362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指数退避重试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6440" y="1837944"/>
            <a:ext cx="27432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429/5xx/网络错退避重试;401/400 立即抛。jitter 防惊群。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350008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40487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循环检测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2679192"/>
            <a:ext cx="27432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连续相同签名 3 轮早停,防卡死循环。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191256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2461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max_steps=15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3520440"/>
            <a:ext cx="27432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单轮工具调用硬上限,防 token 失控。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loop 不耦合 Streamlit:messages 所有权属调用方,on_step 回调渲染折叠块,纯函数可测。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 个工具共享 ToolContext——重对象进 ctx,文本摘要进 messages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78484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143000"/>
            <a:ext cx="3977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880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关键设计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709928"/>
            <a:ext cx="3977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load_enso_data · list_data_sources · load_index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709928"/>
            <a:ext cx="2880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幂等缓存;数据源注册表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76856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76856"/>
            <a:ext cx="3977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forecast_for_month · forecast_enhanced · forecast_cnn_lstm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276856"/>
            <a:ext cx="2880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双轨并存,mode 区分 soda_tail/realtime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8229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43784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843784"/>
            <a:ext cx="3977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report_hindcast_skill · report_realtime_skill · compare_methods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843784"/>
            <a:ext cx="2880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可靠性自评估工具集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10712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分析画图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410712"/>
            <a:ext cx="3977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classify_phase · analyze_precipitation · run_tide_prediction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410712"/>
            <a:ext cx="2880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matplotlib→PNG 内联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E9A6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14800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多槽并存:results(基线)/ enhanced_results(增强)/ cnn_forecasts(CNN)分槽,同会话对比不互相覆盖——540 行 DataFrame 不进 messages。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工具失败转字符串回传 LLM(不抛),模型见 Error 自行换参数/换工具,形成自我修复。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基线轨:Persistence + Ridge + RF,三道防线严格防数据泄露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8038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457200" y="123444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80160"/>
            <a:ext cx="1426464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Niño3.4 月序列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12801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21408" y="123444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280160"/>
            <a:ext cx="1426464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特征:lag 0-12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滚动均值3/6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month sin/cos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75888" y="1234440"/>
            <a:ext cx="12801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85616" y="123444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280160"/>
            <a:ext cx="1426464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目标:shift(-lead)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40096" y="1234440"/>
            <a:ext cx="12801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9824" y="123444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1280160"/>
            <a:ext cx="1426464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时间序切分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train/test 75/25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04304" y="1234440"/>
            <a:ext cx="12801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14032" y="123444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280160"/>
            <a:ext cx="1426464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三模型 + RMSE 选优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 进结果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防泄露三道防线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SzPct val="100000"/>
              <a:buNone/>
            </a:pPr>
            <a:r>
              <a:rPr lang="en-US" sz="17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特征只用 lag≥0: </a:t>
            </a: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shift(0)=当前值、shift(1)=上月,绝不用 shift(-k)(未来)做特征。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 shift(-lead): </a:t>
            </a: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负号=未来第 lead 月的值,是要预测的对象。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时间顺序切分: </a:t>
            </a: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按时间前后切,绝不用 sklearn 随机 split(会让测试点混入训练之前)。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Persistence(未来=现在)判断 ML 是否真有效;若 ML 不如它,说明特征或模型有问题。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增强轨:加 SOI + Niño1+2 突破春季预测障碍,lead 可信度改为数据驱动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1307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基线只用 Niño3.4 自身滞后,撞春季预测障碍(SPB)——跨春前兆信号在 大气端(SOI) 与 东太平洋海洋端(Niño1+2)。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7764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SOI(南方涛动指数)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432304"/>
            <a:ext cx="37490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大气端前兆,NOAA/PSL 在线拉取,各加 13 个 lag 特征。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397764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Niño1+2(东太平洋上涌区)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2432304"/>
            <a:ext cx="37490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海洋端前兆,与 Niño3.4 区域不同,提供独立信息。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E9A6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73552"/>
            <a:ext cx="7955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关键改进:lead 可信度数据驱动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84448"/>
            <a:ext cx="79552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 per-lead ACC 分档:ACC&lt;0.3 拒绝预测 · ACC&lt;0.5 标低可信 · 否则正常。替代基线硬编码 7/12 阈值——答辩能讲清“为什么这个 lead 不可信”。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数据源注册表(source_registry.py):NOAA/PSL 三源免注册 ASCII,复用同一解析器。阈值 0.5/0.3 见 config.py。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CNN-LSTM 空间场轨:对标 Ham et al. 2019,离线训练 / 在线推理分离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1307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457200" y="1188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月 × 24纬×72经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× 4 通道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(sst/t300/ua/va)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274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344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提空间特征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(每时间步)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188720"/>
            <a:ext cx="274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234440"/>
            <a:ext cx="1554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LSTM 2层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建时序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188720"/>
            <a:ext cx="274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98080" y="118872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2344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 lead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Niño3.4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离线训练 / 在线推理分离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97764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260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离线训练(scripts/)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200400"/>
            <a:ext cx="37490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SODA 再分析,留缓冲三划分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(训0-70/验70-82/缓冲82-85/测85-99)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只用训练集统计量标准化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Dropout 0.7 + 早停 抗小样本过拟合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权重 49M 内置仓库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7764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9260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在线推理(Streamlit)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200400"/>
            <a:ext cx="37490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torch 懒加载:import tools 不触发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仅 forecast_cnn_lstm 调用时加载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CPU 前向,秒级响应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Streamlit 启动无需 GPU/训练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Ham et al. (2019), Nature. 本轨 SODA-only 训练(无 CMIP);t300 替代上层热含量 HC,已知简化。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 价值在中长 lead:lead4 起碾压 Persistence,lead10 春季障碍低谷仍正技能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4482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91840" y="12801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E9A6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91840" y="12801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lead10 SPB 谷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 −0.10 · CNN +0.31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0" y="1097280"/>
            <a:ext cx="2971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怎么读这张图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短期 lead1-3:Persistence 略胜(ENSO 强自相关,“明天=今天”几乎不可战胜)。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lead4 起 CNN 反超并持续扩大——CNN 有真技能。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lead10 春季预测障碍:Persistence 已负,CNN 仍 +0.31。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可靠窗口 lead4-23;长 lead CNN 稳在 0.5+,对标论文“lead17&gt;0.5”。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SODA 测试集(85-99 年)hindcast,all-season ACC,对标 Ham et al. (2019), Nature 口径。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训练域 ≠ 推理域——realtime hindcast 才是真效果,且永久标注 cross-domain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1334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Text 2"/>
          <p:cNvSpPr/>
          <p:nvPr/>
        </p:nvSpPr>
        <p:spPr>
          <a:xfrm>
            <a:off x="457200" y="1115568"/>
            <a:ext cx="8229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问题:SODA 域 ACC 不能直接套到 realtime——CNN 在 SODA 训练,推理却喂 OISST+GODAS+NCEP,存在跨域偏移。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3931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9659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E9A6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9659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n=7 窗口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3440" y="1874520"/>
            <a:ext cx="4023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跨域对齐方案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663440" y="2194560"/>
            <a:ext cx="402336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异常化对齐:每源减自身 30 年月气候态,匹配 SODA 异常分布。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泄漏无关:气候态期(2005-15)与评估期(2020-21)不重叠。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同口径:all-season ACC + Persistence 基准。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结果:lead1=0.86, lead2=0.75——跨域损失不严重,短期可靠。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诚实底线:中长 lead n=7 样本小,标注“待扩样本”;ACC 永不跨域冒充。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realtime 源:OISST / GODAS / NCEP-NCAR R1 历史段(2020-2021),对比 NOAA 真实 Niño3.4。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实时管道:四通道免注册 OPeNDAP,窗口诚实截止到风场最新月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625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603504"/>
          </a:xfrm>
          <a:prstGeom prst="rect">
            <a:avLst/>
          </a:prstGeom>
          <a:solidFill>
            <a:srgbClr val="1C729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772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27889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0" y="1143000"/>
            <a:ext cx="8686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滞后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94960" y="1143000"/>
            <a:ext cx="32461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工程坑(已解决)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8229600" cy="603504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7772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63040" y="1746504"/>
            <a:ext cx="27889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NCEI OISST 日值(月中近似)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0" y="1746504"/>
            <a:ext cx="8686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~1-2周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1746504"/>
            <a:ext cx="32461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中文路径读 nc→临时 ASCII 拷贝;zlev 维 squeeze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50008"/>
            <a:ext cx="7772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t300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2350008"/>
            <a:ext cx="27889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PSL GODAS pottmp(303m层)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350008"/>
            <a:ext cx="8686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~1月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94960" y="2350008"/>
            <a:ext cx="32461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OPeNDAP interp 跨层返回0→sel nearest(303)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8229600" cy="603504"/>
          </a:xfrm>
          <a:prstGeom prst="rect">
            <a:avLst/>
          </a:prstGeom>
          <a:solidFill>
            <a:srgbClr val="F4F8FB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53512"/>
            <a:ext cx="7772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ua / va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63040" y="2953512"/>
            <a:ext cx="27889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PSL NCEP/NCAR R1 850hPa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2953512"/>
            <a:ext cx="8686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~5月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94960" y="2953512"/>
            <a:ext cx="32461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4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整文件437MB断连→OPeNDAP 切片;3D interp→逐片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E9A6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86200"/>
            <a:ext cx="7955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窗口截止:风场 5 月滞后是瓶颈,窗口统一截止到风场最新月,sst/t300 更新的部分被截掉——诚实标注,不拿旧风场填充假装实时。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全免注册 OPeNDAP;陆地 NaN→nan_to_num 填 0,否则 CNN 输出 NaN。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自主 7 步编排多方法 + 自评可靠性——这是 agent 比脚本强在哪的答案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61339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用户:“明年3月怎样?对比三方法,准不准”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46304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57200" y="146304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14400" y="146304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load_enso_data</a:t>
            </a:r>
            <a:endParaRPr lang="en-US" sz="12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3291840" y="146304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auto→真实 NOAA,到 2026-04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57200" y="18745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57200" y="18745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914400" y="187452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load_index(soi)</a:t>
            </a:r>
            <a:endParaRPr lang="en-US" sz="12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291840" y="187452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在线拉大气端前兆</a:t>
            </a:r>
            <a:endParaRPr lang="en-US" sz="12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57200" y="228600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57200" y="22860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914400" y="228600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load_index(nino12)</a:t>
            </a:r>
            <a:endParaRPr lang="en-US" sz="12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3291840" y="228600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在线拉海洋端前兆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57200" y="26974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914400" y="269748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recommend_data_range</a:t>
            </a:r>
            <a:endParaRPr lang="en-US" sz="125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3291840" y="269748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2027-03 → lead11,低可信桶</a:t>
            </a:r>
            <a:endParaRPr lang="en-US" sz="12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57200" y="310896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57200" y="31089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914400" y="310896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forecast_enhanced</a:t>
            </a:r>
            <a:endParaRPr lang="en-US" sz="125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3291840" y="310896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value=0.03, ACC=0.38 → 自动标低可信</a:t>
            </a:r>
            <a:endParaRPr lang="en-US" sz="120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57200" y="352044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457200" y="352044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914400" y="352044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forecast_cnn_lstm</a:t>
            </a:r>
            <a:endParaRPr lang="en-US" sz="125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3291840" y="352044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realtime, lead11 → 跨域标注</a:t>
            </a:r>
            <a:endParaRPr lang="en-US" sz="1200" dirty="0"/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457200" y="39319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6"/>
            </p:custDataLst>
          </p:nvPr>
        </p:nvSpPr>
        <p:spPr>
          <a:xfrm>
            <a:off x="457200" y="3931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>
            <p:custDataLst>
              <p:tags r:id="rId27"/>
            </p:custDataLst>
          </p:nvPr>
        </p:nvSpPr>
        <p:spPr>
          <a:xfrm>
            <a:off x="914400" y="3931920"/>
            <a:ext cx="2286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forecast_latest</a:t>
            </a:r>
            <a:endParaRPr lang="en-US" sz="1250" dirty="0"/>
          </a:p>
        </p:txBody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3291840" y="3931920"/>
            <a:ext cx="5394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主动补短期 La Niña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生成三方法对比表 + “lead11 ACC=0.38 低可信,建议 6 月内再关注”的数据驱动建议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DeepSeek 对话轨迹,无人工干预。agent 在审定工具集内决策,不发明新方法——可靠性优先于“全自动”噱头。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194560" cy="41148"/>
          </a:xfrm>
          <a:prstGeom prst="rect">
            <a:avLst/>
          </a:prstGeom>
          <a:solidFill>
            <a:srgbClr val="3FA7C0"/>
          </a:solidFill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对话 agent 串起多方法科学预测: </a:t>
            </a:r>
            <a:r>
              <a:rPr lang="en-US" sz="19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 / 增强 / CNN-LSTM 并存可对比,不是套对话壳。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可靠性自评估是核心特色: </a:t>
            </a:r>
            <a:r>
              <a:rPr lang="en-US" sz="19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调 hindcast 工具用 ACC + Persistence 回答“准不准”。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科学诚实贯穿全系统: </a:t>
            </a:r>
            <a:r>
              <a:rPr lang="en-US" sz="19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lead 按 ACC 数据驱动分档;跨域不混淆 ACC;SPB 可见。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工程务实: </a:t>
            </a:r>
            <a:r>
              <a:rPr lang="en-US" sz="19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OPeNDAP 切片、离线训练 / 在线推理、多槽状态并存、零网络测试隔离。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ECB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欢迎提问与反馈  ·  github.com/WHYYOUTRYB  ·  韩烁小组 · 河海大学海洋技术专业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5603"/>
          </a:xfrm>
          <a:prstGeom prst="rect">
            <a:avLst/>
          </a:prstGeom>
          <a:solidFill>
            <a:srgbClr val="D6DEE5"/>
          </a:solidFill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Ham, Y. G., Kim, J. H., &amp; Luo, J. J. (2019). Deep learning for multi-year ENSO forecasts. Nature, 573(7775), 568–572.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NOAA Physical Sciences Laboratory. Niño3.4 / SOI / Niño1+2 monthly indices. https://psl.noaa.gov/data/timeseries/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NOAA NCEI. OISST daily sea surface temperature. https://www.ncei.noaa.gov/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NOAA PSL. GODAS potential temperature; NCEP/NCAR R1 reanalysis (850 hPa winds). https://psl.noaa.gov/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Carton, J. A. &amp; Giese, B. S. (2008). SODA: A Reanalysis of Ocean Climate. J. Geophys. Res., 113(C4).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34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本项目:enso-chat/~4500 行 Python,82 测试,21 工具。https://github.com/WHYYOUTRYB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3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4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5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6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7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8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9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0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1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2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3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4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5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6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7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8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19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0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1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2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3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4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5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6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7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ags/tag28.xml><?xml version="1.0" encoding="utf-8"?>
<p:tagLst xmlns:p="http://schemas.openxmlformats.org/presentationml/2006/main">
  <p:tag name="KSO_WM_DIAGRAM_VIRTUALLY_FRAME" val="{&quot;height&quot;:220.32,&quot;left&quot;:36,&quot;top&quot;:115.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5841</Words>
  <Application>WPS 演示</Application>
  <PresentationFormat>On-screen Show (16:9)</PresentationFormat>
  <Paragraphs>354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河海大学 / https://github.com/WHYYOUTRYB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ENSO 对话式预报 Agent:对话驱动的多方法预测与可靠性自评估</dc:title>
  <dc:creator>韩烁小组 · 河海大学海洋技术专业</dc:creator>
  <dc:subject>PptxGenJS Presentation</dc:subject>
  <cp:lastModifiedBy>WPS_1649733679</cp:lastModifiedBy>
  <cp:revision>2</cp:revision>
  <dcterms:created xsi:type="dcterms:W3CDTF">2026-07-02T13:11:00Z</dcterms:created>
  <dcterms:modified xsi:type="dcterms:W3CDTF">2026-07-02T13:19:27Z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74CB2A19CCB54EFA9EC4C59D3248F4BE_12</vt:lpwstr>
  </property>
</Properties>
</file>